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DM Sans Bold" panose="020B0604020202020204" charset="0"/>
      <p:regular r:id="rId14"/>
    </p:embeddedFont>
    <p:embeddedFont>
      <p:font typeface="DM Sans SemiBold" panose="020B0604020202020204" charset="0"/>
      <p:regular r:id="rId15"/>
    </p:embeddedFont>
    <p:embeddedFont>
      <p:font typeface="Inter Bold" panose="020B0604020202020204" charset="0"/>
      <p:regular r:id="rId16"/>
    </p:embeddedFont>
    <p:embeddedFont>
      <p:font typeface="Inter Medium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738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github.com/YaswanthKomminni" TargetMode="External"/><Relationship Id="rId7" Type="http://schemas.openxmlformats.org/officeDocument/2006/relationships/hyperlink" Target="https://github.com/CHARANVUTL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umalik-123" TargetMode="External"/><Relationship Id="rId5" Type="http://schemas.openxmlformats.org/officeDocument/2006/relationships/hyperlink" Target="https://github.com/Abhiram-Putti" TargetMode="External"/><Relationship Id="rId4" Type="http://schemas.openxmlformats.org/officeDocument/2006/relationships/hyperlink" Target="mailto:cb.sc.u4cse23134@cb.students.amrita.edu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4166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3030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23CSE471 </a:t>
            </a: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​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41352"/>
            <a:ext cx="35642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u="sng" dirty="0">
                <a:solidFill>
                  <a:srgbClr val="03030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NATURAL LANGUAGE PROCESSING </a:t>
            </a:r>
            <a:r>
              <a:rPr lang="en-US" sz="1350" b="1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:</a:t>
            </a: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 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675409"/>
            <a:ext cx="8608963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                                                                                     CASE STUDY REVIEW 1</a:t>
            </a: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​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7519" y="3118321"/>
            <a:ext cx="8608963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Professor – T Senthil Kumar (CSE)</a:t>
            </a: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​</a:t>
            </a:r>
            <a:endParaRPr lang="en-US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D42B75-11F8-2E80-80AD-BF255C42B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12451"/>
            <a:ext cx="9144000" cy="5310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1117"/>
            <a:ext cx="69888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                    JanMitra: AI-Powered Government Scheme Assistant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96119" y="1150441"/>
            <a:ext cx="8608963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                                                                                              TEAM NUMBER : 9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593354"/>
            <a:ext cx="8151763" cy="2949029"/>
          </a:xfrm>
          <a:prstGeom prst="roundRect">
            <a:avLst>
              <a:gd name="adj" fmla="val 72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1598116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2789" y="1687934"/>
            <a:ext cx="16441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18047" y="1687934"/>
            <a:ext cx="17045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ROLL NUMBER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3656" y="1687934"/>
            <a:ext cx="18144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GITHUB URL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99174" y="1687934"/>
            <a:ext cx="20986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COLLEAGE MAIL 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8880" y="1687934"/>
            <a:ext cx="172968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PHONE NUMBER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0881" y="2004566"/>
            <a:ext cx="8142238" cy="6332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2789" y="2094384"/>
            <a:ext cx="1186979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KOMMINNI YASWANTH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18047" y="2094384"/>
            <a:ext cx="124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CB.SC.U4CSE24024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3656" y="2094384"/>
            <a:ext cx="135723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YaswanthKomminni - Overview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99174" y="2094384"/>
            <a:ext cx="16414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cb.sc.u4cse24024@cb.students.amrita.edu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8880" y="2094384"/>
            <a:ext cx="172968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9182257321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0881" y="2637830"/>
            <a:ext cx="8142238" cy="6332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2789" y="2727647"/>
            <a:ext cx="16441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 J ABHIRAM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18047" y="2727647"/>
            <a:ext cx="124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CB.SC.U4CSE24039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3656" y="2727647"/>
            <a:ext cx="135723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Abhiram-Putti - Overview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99174" y="2727647"/>
            <a:ext cx="16414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cb.sc.u4cse24039@cb.students.amrita.edu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8880" y="2727647"/>
            <a:ext cx="172968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7013758407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0881" y="3271093"/>
            <a:ext cx="8142238" cy="6332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2789" y="3360911"/>
            <a:ext cx="16441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S.SAI SUMALIK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18047" y="3360911"/>
            <a:ext cx="124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CB.SC.U4CSE24647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3656" y="3360911"/>
            <a:ext cx="135723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sumalik-123 - Overview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99174" y="3360911"/>
            <a:ext cx="16414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cb.sc.u4cse24647@cb.students.amrita.edu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8880" y="3360911"/>
            <a:ext cx="172968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8978720597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0881" y="3904357"/>
            <a:ext cx="8142238" cy="6332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42789" y="3994175"/>
            <a:ext cx="16441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VUTLA CHARAN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18047" y="3994175"/>
            <a:ext cx="124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CB.SC.U4CSE24258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3656" y="3994175"/>
            <a:ext cx="135723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CHARANVUTLA - Overview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99174" y="3994175"/>
            <a:ext cx="16414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u="sng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cb.sc.u4cse24258@cb.students.amrita.edu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8880" y="3994175"/>
            <a:ext cx="172968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6302803718</a:t>
            </a:r>
            <a:endParaRPr lang="en-US" sz="11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2F45C55-A66A-18AF-97A8-33237019D3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613106"/>
            <a:ext cx="9144000" cy="5310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FBB895F-1614-3AEE-5A10-F15E14D3E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54388"/>
            <a:ext cx="9144000" cy="3891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6119" y="300000"/>
            <a:ext cx="6000000" cy="40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C00B1F"/>
                </a:solidFill>
                <a:latin typeface="Cambria"/>
              </a:rPr>
              <a:t>COLLABORATOR DETAILS: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627891"/>
              </p:ext>
            </p:extLst>
          </p:nvPr>
        </p:nvGraphicFramePr>
        <p:xfrm>
          <a:off x="496119" y="850000"/>
          <a:ext cx="8151763" cy="38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Collaborator Category</a:t>
                      </a:r>
                    </a:p>
                  </a:txBody>
                  <a:tcPr marL="60000" marR="40000" marT="20000" marB="200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Role &amp; Expertise</a:t>
                      </a:r>
                    </a:p>
                  </a:txBody>
                  <a:tcPr marL="60000" marR="40000" marT="20000" marB="200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Specific Responsibility in JanMitra</a:t>
                      </a:r>
                    </a:p>
                  </a:txBody>
                  <a:tcPr marL="60000" marR="40000" marT="20000" marB="200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000">
                <a:tc rowSpan="3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Technical Team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000000"/>
                          </a:solidFill>
                          <a:latin typeface="Calibri"/>
                        </a:rPr>
                        <a:t>AI/ML &amp; LLM Engineer</a:t>
                      </a:r>
                    </a:p>
                    <a:p>
                      <a:r>
                        <a:rPr sz="950" b="0" i="1" dirty="0">
                          <a:solidFill>
                            <a:srgbClr val="464646"/>
                          </a:solidFill>
                          <a:latin typeface="Calibri"/>
                        </a:rPr>
                        <a:t>(</a:t>
                      </a:r>
                      <a:r>
                        <a:rPr sz="950" b="0" i="1" dirty="0" err="1">
                          <a:solidFill>
                            <a:srgbClr val="464646"/>
                          </a:solidFill>
                          <a:latin typeface="Calibri"/>
                        </a:rPr>
                        <a:t>Yaswanth</a:t>
                      </a:r>
                      <a:r>
                        <a:rPr sz="950" b="0" i="1" dirty="0">
                          <a:solidFill>
                            <a:srgbClr val="464646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60000" marR="40000" marT="30000" marB="300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64646"/>
                          </a:solidFill>
                          <a:latin typeface="Calibri"/>
                        </a:rPr>
                        <a:t>Develops the LLM-powered conversational assistant, personalized scheme recommendation engine, and integrates RAG for accurate government information retrieval.</a:t>
                      </a:r>
                    </a:p>
                  </a:txBody>
                  <a:tcPr marL="60000" marR="40000" marT="30000" marB="300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NLP &amp; Speech AI Engineer</a:t>
                      </a:r>
                    </a:p>
                    <a:p>
                      <a:r>
                        <a:rPr sz="950" b="0" i="1">
                          <a:solidFill>
                            <a:srgbClr val="464646"/>
                          </a:solidFill>
                          <a:latin typeface="Calibri"/>
                        </a:rPr>
                        <a:t>(Abhiram)</a:t>
                      </a:r>
                    </a:p>
                  </a:txBody>
                  <a:tcPr marL="60000" marR="40000" marT="30000" marB="300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64646"/>
                          </a:solidFill>
                          <a:latin typeface="Calibri"/>
                        </a:rPr>
                        <a:t>Implements multilingual NLP, Automatic Speech Recognition (ASR), Text-to-Speech (TTS), language translation, and voice-based interactions.</a:t>
                      </a:r>
                    </a:p>
                  </a:txBody>
                  <a:tcPr marL="60000" marR="40000" marT="30000" marB="300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Backend &amp; Database Developer</a:t>
                      </a:r>
                    </a:p>
                    <a:p>
                      <a:r>
                        <a:rPr sz="950" b="0" i="1">
                          <a:solidFill>
                            <a:srgbClr val="464646"/>
                          </a:solidFill>
                          <a:latin typeface="Calibri"/>
                        </a:rPr>
                        <a:t>(Charan &amp; Sumalik)</a:t>
                      </a:r>
                    </a:p>
                  </a:txBody>
                  <a:tcPr marL="60000" marR="40000" marT="30000" marB="300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64646"/>
                          </a:solidFill>
                          <a:latin typeface="Calibri"/>
                        </a:rPr>
                        <a:t>Designs the backend architecture, government scheme knowledge base, APIs, user profile management, eligibility verification, and secure database integration.</a:t>
                      </a:r>
                    </a:p>
                  </a:txBody>
                  <a:tcPr marL="60000" marR="40000" marT="30000" marB="300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6000"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Operational Stakeholders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Citizens</a:t>
                      </a:r>
                    </a:p>
                    <a:p>
                      <a:r>
                        <a:rPr sz="950" b="0" i="1">
                          <a:solidFill>
                            <a:srgbClr val="464646"/>
                          </a:solidFill>
                          <a:latin typeface="Calibri"/>
                        </a:rPr>
                        <a:t>(End Users)</a:t>
                      </a:r>
                    </a:p>
                  </a:txBody>
                  <a:tcPr marL="60000" marR="40000" marT="30000" marB="300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64646"/>
                          </a:solidFill>
                          <a:latin typeface="Calibri"/>
                        </a:rPr>
                        <a:t>Interact with JanMitra using voice or text to discover schemes, verify eligibility, and receive application guidance.</a:t>
                      </a:r>
                    </a:p>
                  </a:txBody>
                  <a:tcPr marL="60000" marR="40000" marT="30000" marB="300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System Administrator</a:t>
                      </a:r>
                    </a:p>
                  </a:txBody>
                  <a:tcPr marL="60000" marR="40000" marT="30000" marB="300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464646"/>
                          </a:solidFill>
                          <a:latin typeface="Calibri"/>
                        </a:rPr>
                        <a:t>Manages system updates, monitors AI performance, maintains security, and updates the government knowledge base regularly.</a:t>
                      </a:r>
                    </a:p>
                  </a:txBody>
                  <a:tcPr marL="60000" marR="40000" marT="30000" marB="30000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65560"/>
            <a:ext cx="1110258" cy="266402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308050"/>
            <a:ext cx="139734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8866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Why JanMitra?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244254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Millions of eligible citizens miss out on government welfare schemes — not because they don't qualify, but because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 is broken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Scattered portals, language barriers, low digital literacy, and complex procedures leave the most vulnerable behind.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3084165"/>
            <a:ext cx="8151763" cy="793775"/>
          </a:xfrm>
          <a:prstGeom prst="roundRect">
            <a:avLst>
              <a:gd name="adj" fmla="val 2679"/>
            </a:avLst>
          </a:prstGeom>
          <a:solidFill>
            <a:srgbClr val="D4F7EC"/>
          </a:solidFill>
          <a:ln/>
        </p:spPr>
      </p:sp>
      <p:sp>
        <p:nvSpPr>
          <p:cNvPr id="8" name="Text 5"/>
          <p:cNvSpPr/>
          <p:nvPr/>
        </p:nvSpPr>
        <p:spPr>
          <a:xfrm>
            <a:off x="956816" y="3261345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need:</a:t>
            </a:r>
            <a:r>
              <a:rPr 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 intelligent, multilingual assistant that makes government services simple, accessible, and personalized for every citizen.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3E7DA2-B9B7-C0B8-639F-35893B406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12451"/>
            <a:ext cx="9144000" cy="5310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99492"/>
            <a:ext cx="1030114" cy="266402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41983"/>
            <a:ext cx="131720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OUR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22598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JanMitra: AI-Powered Government Scheme Assistant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121173"/>
            <a:ext cx="8608963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Approach 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56408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JanMitra helps citizens discover and apply for welfare schemes through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natural, multilingual conversations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in their own language, at their own pace.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23031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Core Technologies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664372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Large Language Models (LLMs) &amp; RAG for accurate, grounded responses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NLP + Multilingual Translation for regional language support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ASR &amp; TTS for voice-first, hands-free interaction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522423-FC7F-B6CF-97DB-222DDDD41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02779"/>
            <a:ext cx="9144000" cy="5310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393"/>
            <a:ext cx="4829101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How JanMitra Stands Apart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96119" y="1090836"/>
            <a:ext cx="8151763" cy="1853208"/>
          </a:xfrm>
          <a:prstGeom prst="roundRect">
            <a:avLst>
              <a:gd name="adj" fmla="val 107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3933" y="1175072"/>
            <a:ext cx="22269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Existing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669456" y="1175072"/>
            <a:ext cx="320397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Limitation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82035" y="1175072"/>
            <a:ext cx="328538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JanMitra Advantage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3933" y="1544762"/>
            <a:ext cx="22269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UMANG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69456" y="1544762"/>
            <a:ext cx="320397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Complex, multi-step navigation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82035" y="1544762"/>
            <a:ext cx="328538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Conversational AI — ask naturally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3933" y="1914451"/>
            <a:ext cx="22269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MyGov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69456" y="1914451"/>
            <a:ext cx="320397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personalized recommendations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82035" y="1914451"/>
            <a:ext cx="328538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AI-driven, eligibility-based suggestions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3933" y="2284140"/>
            <a:ext cx="22269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DigiLocker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69456" y="2284140"/>
            <a:ext cx="320397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Document storage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82035" y="2284140"/>
            <a:ext cx="328538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Full scheme guidance + eligibility support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3933" y="2653829"/>
            <a:ext cx="222691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National Service Portal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69456" y="2653829"/>
            <a:ext cx="320397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Static, one-size-fits-all info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82035" y="2653829"/>
            <a:ext cx="328538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Interactive, multilingual assistance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6119" y="3084165"/>
            <a:ext cx="4013597" cy="754187"/>
          </a:xfrm>
          <a:prstGeom prst="roundRect">
            <a:avLst>
              <a:gd name="adj" fmla="val 2643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629022" y="321706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Voice-First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9022" y="3499470"/>
            <a:ext cx="374779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Hands-free interaction for low-literacy users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34285" y="3084165"/>
            <a:ext cx="4013597" cy="754187"/>
          </a:xfrm>
          <a:prstGeom prst="roundRect">
            <a:avLst>
              <a:gd name="adj" fmla="val 2643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4767188" y="321706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Personalized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67188" y="3499470"/>
            <a:ext cx="374779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AI-matched to individual eligibility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6119" y="3962921"/>
            <a:ext cx="4013597" cy="754187"/>
          </a:xfrm>
          <a:prstGeom prst="roundRect">
            <a:avLst>
              <a:gd name="adj" fmla="val 2643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629022" y="409582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Grounded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9022" y="4378226"/>
            <a:ext cx="374779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RAG reduces hallucinations with verified sources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34285" y="3962921"/>
            <a:ext cx="4013597" cy="754187"/>
          </a:xfrm>
          <a:prstGeom prst="roundRect">
            <a:avLst>
              <a:gd name="adj" fmla="val 2643"/>
            </a:avLst>
          </a:prstGeom>
          <a:solidFill>
            <a:srgbClr val="F2EEEE"/>
          </a:solidFill>
          <a:ln/>
        </p:spPr>
      </p:sp>
      <p:sp>
        <p:nvSpPr>
          <p:cNvPr id="29" name="Text 27"/>
          <p:cNvSpPr/>
          <p:nvPr/>
        </p:nvSpPr>
        <p:spPr>
          <a:xfrm>
            <a:off x="4767188" y="409582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Inclusive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67188" y="4378226"/>
            <a:ext cx="374779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Regional languages bridge the digital divide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EAF25A3-078E-7BCE-3684-0018890CB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1820"/>
            <a:ext cx="9144000" cy="35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3221"/>
            <a:ext cx="1228055" cy="266402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55712"/>
            <a:ext cx="151514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EXPECTED IMPACT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36327"/>
            <a:ext cx="740658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Building a More Inclusive Welfare System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39191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JanMitra bridges the gap between citizens and government schemes — delivering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accurate, personalized, and multilingual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assistance at scale.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19" y="2465710"/>
            <a:ext cx="18157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Increased Awareness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6119" y="2772221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Proactively surfaces schemes citizens didn't know they qualified for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660553" y="24657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Multilingual Access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660553" y="2772221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Voice and text support in regional languages for rural and elderly users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96119" y="3970065"/>
            <a:ext cx="18761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Simplified Procedures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96119" y="4276576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Step-by-step guidance demystifies complex application processes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660553" y="397006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Aligned with SDGs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660553" y="4276576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Supports SDG 1, 4, 10, and 16 — poverty reduction, education, equality, and strong institutions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ADD597-099F-AFFD-7429-81D7D4703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15259"/>
            <a:ext cx="9144000" cy="3282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C977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601</Words>
  <Application>Microsoft Office PowerPoint</Application>
  <PresentationFormat>On-screen Show (16:9)</PresentationFormat>
  <Paragraphs>105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Inter Medium</vt:lpstr>
      <vt:lpstr>DM Sans SemiBold</vt:lpstr>
      <vt:lpstr>Inter Bold</vt:lpstr>
      <vt:lpstr>Arial</vt:lpstr>
      <vt:lpstr>DM Sans Bold</vt:lpstr>
      <vt:lpstr>Cambria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vutla charan</dc:creator>
  <cp:lastModifiedBy>KOMMINNI YASWANTH - [CB.SC.U4CSE24024]</cp:lastModifiedBy>
  <cp:revision>7</cp:revision>
  <dcterms:created xsi:type="dcterms:W3CDTF">2026-07-05T13:21:10Z</dcterms:created>
  <dcterms:modified xsi:type="dcterms:W3CDTF">2026-07-05T15:00:58Z</dcterms:modified>
</cp:coreProperties>
</file>